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2bb8e8d5e4c6c" /><Relationship Type="http://schemas.openxmlformats.org/officeDocument/2006/relationships/extended-properties" Target="/docProps/app.xml" Id="R5ed755e544f4411e" /><Relationship Type="http://schemas.openxmlformats.org/officeDocument/2006/relationships/officeDocument" Target="/ppt/presentation.xml" Id="R53c33874106542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6feca148214f54"/>
  </p:sldMasterIdLst>
  <p:notesMasterIdLst>
    <p:notesMasterId xmlns:r="http://schemas.openxmlformats.org/officeDocument/2006/relationships" r:id="R882fcabee4064e96"/>
  </p:notesMasterIdLst>
  <p:sldIdLst>
    <p:sldId xmlns:r="http://schemas.openxmlformats.org/officeDocument/2006/relationships" id="256" r:id="R7c97f464c58f4d98"/>
  </p:sldIdLst>
  <p:sldSz cx="21383625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b27b1a3ace47c2" /><Relationship Type="http://schemas.openxmlformats.org/officeDocument/2006/relationships/slideMaster" Target="/ppt/slideMasters/slideMaster1.xml" Id="R386feca148214f54" /><Relationship Type="http://schemas.openxmlformats.org/officeDocument/2006/relationships/notesMaster" Target="/ppt/notesMasters/notesMaster1.xml" Id="R882fcabee4064e96" /><Relationship Type="http://schemas.openxmlformats.org/officeDocument/2006/relationships/presProps" Target="/ppt/presProps.xml" Id="R30ccf888117448c9" /><Relationship Type="http://schemas.openxmlformats.org/officeDocument/2006/relationships/tableStyles" Target="/ppt/tableStyles.xml" Id="Re89609a3772d4493" /><Relationship Type="http://schemas.openxmlformats.org/officeDocument/2006/relationships/slide" Target="/ppt/slides/slide1.xml" Id="R7c97f464c58f4d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862ba7e6a4e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ce26ef7e6347a3" /><Relationship Type="http://schemas.openxmlformats.org/officeDocument/2006/relationships/notesMaster" Target="/ppt/notesMasters/notesMaster1.xml" Id="R1f54903e04684f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项目仓库（私有）：https://github.com/xiaozehao3/hx1p35a-sc520cs-vision</a:t>
            </a:r>
          </a:p>
          <a:p xmlns:a="http://schemas.openxmlformats.org/drawingml/2006/main">
            <a:r>
              <a:t>二维码直接编码上述仓库首页地址。只有仓库所有者和已获授权的 GitHub 账号能查看仓库内容。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素材与事实来源：</a:t>
            </a:r>
          </a:p>
          <a:p xmlns:a="http://schemas.openxmlformats.org/drawingml/2006/main">
            <a:r>
              <a:t>1. 问界 M9 车型图：AITO 官方网站首页，https://aito.auto/ ，图片用于车型场景示意，不是本项目采集或识别结果。</a:t>
            </a:r>
          </a:p>
          <a:p xmlns:a="http://schemas.openxmlformats.org/drawingml/2006/main">
            <a:r>
              <a:t>2. 车牌识别样例结果：evidence/plate_result_police.json；截图局部来自 evidence/plate_police/police.jpg。</a:t>
            </a:r>
          </a:p>
          <a:p xmlns:a="http://schemas.openxmlformats.org/drawingml/2006/main">
            <a:r>
              <a:t>3. FPGA 时序及资源：td_project_submission_pc_image_20261025/report_vision_ui_qor.txt 与 final_timing.rpt。</a:t>
            </a:r>
          </a:p>
          <a:p xmlns:a="http://schemas.openxmlformats.org/drawingml/2006/main">
            <a:r>
              <a:t>4. PC 图像协议测试：PC 上位机 tests 目录，9 项单元测试通过。</a:t>
            </a:r>
          </a:p>
          <a:p xmlns:a="http://schemas.openxmlformats.org/drawingml/2006/main">
            <a:r>
              <a:t>5. 机械结构源文件：mechanical/亚克力摄像头支架.scad，参数化模型用于 3 mm 亚克力 MIPI 摄像头支架。</a:t>
            </a:r>
          </a:p>
          <a:p xmlns:a="http://schemas.openxmlformats.org/drawingml/2006/main">
            <a:r>
              <a:t>6. FPGA 摄像头、HDMI 和 UART 图片回显目前仍待目标板整链路实测验收。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d1b6ce5c44e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ec05c3d6894eb8" /><Relationship Type="http://schemas.openxmlformats.org/officeDocument/2006/relationships/slideLayout" Target="/ppt/slideLayouts/slideLayout1.xml" Id="Rd95ee3ac0cdb48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5ee3ac0cdb48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adf32be328462e" /><Relationship Type="http://schemas.openxmlformats.org/officeDocument/2006/relationships/image" Target="/ppt/media/image.jpeg" Id="Rb4a8f7d294014270" /><Relationship Type="http://schemas.openxmlformats.org/officeDocument/2006/relationships/image" Target="/ppt/media/image2.jpeg" Id="R9fec1012d59f4684" /><Relationship Type="http://schemas.openxmlformats.org/officeDocument/2006/relationships/image" Target="/ppt/media/image.png" Id="R865f9a939be649b6" /><Relationship Type="http://schemas.openxmlformats.org/officeDocument/2006/relationships/notesSlide" Target="/ppt/notesSlides/notesSlide1.xml" Id="R8d9ae7a823b843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op-accent">
            <a:extLst xmlns:a="http://schemas.openxmlformats.org/drawingml/2006/main">
              <a:ext uri="{FF2B5EF4-FFF2-40B4-BE49-F238E27FC236}">
                <a16:creationId xmlns:a16="http://schemas.microsoft.com/office/drawing/2014/main" id="{EF99E8D7-092E-46F5-AB3F-E2D0D510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42950"/>
            <a:ext cx="952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37FA5CE-A988-49F3-B49B-775132A5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00125"/>
            <a:ext cx="1381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rPr>
              <a:t>HX1P35B  /  PH1P35MDG324  /  视觉系统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8E36D9-F682-4125-8A5A-E3C992B2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2100"/>
            <a:ext cx="14382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682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rPr>
              <a:t>FPGA 视觉处理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682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82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rPr>
              <a:t>与车牌识别系统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9F254F1-BBE7-4BA4-852E-DFF7F3FB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1423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62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摄像头实时处理  +  PC 单图识别与 HDMI 回显</a:t>
            </a:r>
          </a:p>
        </p:txBody>
      </p:sp>
      <p:sp>
        <p:nvSpPr>
          <p:cNvPr id="5" name="number-divider">
            <a:extLst xmlns:a="http://schemas.openxmlformats.org/drawingml/2006/main">
              <a:ext uri="{FF2B5EF4-FFF2-40B4-BE49-F238E27FC236}">
                <a16:creationId xmlns:a16="http://schemas.microsoft.com/office/drawing/2014/main" id="{AC6879D4-A786-44A4-ACAB-301ECAC6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63925" y="952500"/>
            <a:ext cx="285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ode-number">
            <a:extLst xmlns:a="http://schemas.openxmlformats.org/drawingml/2006/main">
              <a:ext uri="{FF2B5EF4-FFF2-40B4-BE49-F238E27FC236}">
                <a16:creationId xmlns:a16="http://schemas.microsoft.com/office/drawing/2014/main" id="{B3BABA99-4A36-47E4-86E9-3D6358C4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0" y="428625"/>
            <a:ext cx="33813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0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0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" name="mode-number-label">
            <a:extLst xmlns:a="http://schemas.openxmlformats.org/drawingml/2006/main">
              <a:ext uri="{FF2B5EF4-FFF2-40B4-BE49-F238E27FC236}">
                <a16:creationId xmlns:a16="http://schemas.microsoft.com/office/drawing/2014/main" id="{3049FD08-338C-4B8A-95DF-EC1E8BFA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31718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75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rPr>
              <a:t>种实时图像模式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a8f7d294014270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4381500"/>
            <a:ext cx="19097625" cy="8334375"/>
          </a:xfrm>
          <a:prstGeom xmlns:a="http://schemas.openxmlformats.org/drawingml/2006/main" prst="rect">
            <a:avLst/>
          </a:prstGeom>
        </p:spPr>
      </p:pic>
      <p:sp>
        <p:nvSpPr>
          <p:cNvPr id="9" name="hero-caption">
            <a:extLst xmlns:a="http://schemas.openxmlformats.org/drawingml/2006/main">
              <a:ext uri="{FF2B5EF4-FFF2-40B4-BE49-F238E27FC236}">
                <a16:creationId xmlns:a16="http://schemas.microsoft.com/office/drawing/2014/main" id="{763569A9-5524-4E64-96A3-FEACA360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773025"/>
            <a:ext cx="1809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rPr>
              <a:t>问界 M9 车型示意  /  图片来源：AITO 官方网站</a:t>
            </a:r>
          </a:p>
        </p:txBody>
      </p:sp>
      <p:sp>
        <p:nvSpPr>
          <p:cNvPr id="10" name="fpga-title">
            <a:extLst xmlns:a="http://schemas.openxmlformats.org/drawingml/2006/main">
              <a:ext uri="{FF2B5EF4-FFF2-40B4-BE49-F238E27FC236}">
                <a16:creationId xmlns:a16="http://schemas.microsoft.com/office/drawing/2014/main" id="{0FA3AF68-D015-47E8-B5EF-F395CF44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287375"/>
            <a:ext cx="1909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rPr>
              <a:t>01  实时摄像头处理  /  FPGA</a:t>
            </a:r>
          </a:p>
        </p:txBody>
      </p:sp>
      <p:sp>
        <p:nvSpPr>
          <p:cNvPr id="11" name="fpga-rule">
            <a:extLst xmlns:a="http://schemas.openxmlformats.org/drawingml/2006/main">
              <a:ext uri="{FF2B5EF4-FFF2-40B4-BE49-F238E27FC236}">
                <a16:creationId xmlns:a16="http://schemas.microsoft.com/office/drawing/2014/main" id="{BD80FCE6-2CAB-45AD-8EB6-F1D4C8C9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030325"/>
            <a:ext cx="1909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pga-accent">
            <a:extLst xmlns:a="http://schemas.openxmlformats.org/drawingml/2006/main">
              <a:ext uri="{FF2B5EF4-FFF2-40B4-BE49-F238E27FC236}">
                <a16:creationId xmlns:a16="http://schemas.microsoft.com/office/drawing/2014/main" id="{7B3C6D2B-689C-4F0A-8936-C46EA37A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030325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pga-flow">
            <a:extLst xmlns:a="http://schemas.openxmlformats.org/drawingml/2006/main">
              <a:ext uri="{FF2B5EF4-FFF2-40B4-BE49-F238E27FC236}">
                <a16:creationId xmlns:a16="http://schemas.microsoft.com/office/drawing/2014/main" id="{BC10B167-52D2-4FE7-967E-1BA09679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306550"/>
            <a:ext cx="1909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47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MIPI CSI 摄像头  →  解包 / 去马赛克  →  像素处理  →  DDR 缓存  →  HDMI</a:t>
            </a:r>
          </a:p>
        </p:txBody>
      </p:sp>
      <p:sp>
        <p:nvSpPr>
          <p:cNvPr id="14" name="fpga-modes">
            <a:extLst xmlns:a="http://schemas.openxmlformats.org/drawingml/2006/main">
              <a:ext uri="{FF2B5EF4-FFF2-40B4-BE49-F238E27FC236}">
                <a16:creationId xmlns:a16="http://schemas.microsoft.com/office/drawing/2014/main" id="{DECC68B1-1612-4A27-81F8-D7B610D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0"/>
            <a:ext cx="1909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rPr>
              <a:t>彩色    二值化    边缘检测    灰度</a:t>
            </a:r>
          </a:p>
        </p:txBody>
      </p:sp>
      <p:sp>
        <p:nvSpPr>
          <p:cNvPr id="15" name="fpga-detail">
            <a:extLst xmlns:a="http://schemas.openxmlformats.org/drawingml/2006/main">
              <a:ext uri="{FF2B5EF4-FFF2-40B4-BE49-F238E27FC236}">
                <a16:creationId xmlns:a16="http://schemas.microsoft.com/office/drawing/2014/main" id="{B05ECC70-B753-4529-B750-B2A6F39A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5763875"/>
            <a:ext cx="1895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SW1 风格化  /  SW2 区域填充  /  SW3 伪彩  /  SW4 填充色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颜色目标框与坐标  /  帧差运动区域  /  数字亮度校正  /  FPS 与帧计数 OSD</a:t>
            </a:r>
          </a:p>
        </p:txBody>
      </p:sp>
      <p:sp>
        <p:nvSpPr>
          <p:cNvPr id="16" name="pc-title">
            <a:extLst xmlns:a="http://schemas.openxmlformats.org/drawingml/2006/main">
              <a:ext uri="{FF2B5EF4-FFF2-40B4-BE49-F238E27FC236}">
                <a16:creationId xmlns:a16="http://schemas.microsoft.com/office/drawing/2014/main" id="{1D695B41-25E9-4672-B95E-21B4A707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278350"/>
            <a:ext cx="19097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rPr>
              <a:t>02  导入车牌图像识别  /  PC + FPGA</a:t>
            </a:r>
          </a:p>
        </p:txBody>
      </p:sp>
      <p:sp>
        <p:nvSpPr>
          <p:cNvPr id="17" name="pc-rule">
            <a:extLst xmlns:a="http://schemas.openxmlformats.org/drawingml/2006/main">
              <a:ext uri="{FF2B5EF4-FFF2-40B4-BE49-F238E27FC236}">
                <a16:creationId xmlns:a16="http://schemas.microsoft.com/office/drawing/2014/main" id="{80360FEF-D4C7-46AB-98F8-5722D429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21300"/>
            <a:ext cx="1909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c-accent">
            <a:extLst xmlns:a="http://schemas.openxmlformats.org/drawingml/2006/main">
              <a:ext uri="{FF2B5EF4-FFF2-40B4-BE49-F238E27FC236}">
                <a16:creationId xmlns:a16="http://schemas.microsoft.com/office/drawing/2014/main" id="{3AC05B68-9D66-48A7-94FA-261EDE98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213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c-flow">
            <a:extLst xmlns:a="http://schemas.openxmlformats.org/drawingml/2006/main">
              <a:ext uri="{FF2B5EF4-FFF2-40B4-BE49-F238E27FC236}">
                <a16:creationId xmlns:a16="http://schemas.microsoft.com/office/drawing/2014/main" id="{23065558-F821-4AC5-8B94-B300A764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68950"/>
            <a:ext cx="19097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25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PC 导入图片  →  YOLOv5 定位  →  CRNN 识别  →  标注结果  →  UART 115200  →  FPGA HDMI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c1012d59f4684"/>
          <a:stretch xmlns:a="http://schemas.openxmlformats.org/drawingml/2006/main"/>
        </p:blipFill>
        <p:spPr>
          <a:xfrm xmlns:a="http://schemas.openxmlformats.org/drawingml/2006/main">
            <a:off x="3066040" y="19259550"/>
            <a:ext cx="5440795" cy="2476500"/>
          </a:xfrm>
          <a:prstGeom xmlns:a="http://schemas.openxmlformats.org/drawingml/2006/main" prst="rect">
            <a:avLst/>
          </a:prstGeom>
        </p:spPr>
      </p:pic>
      <p:sp>
        <p:nvSpPr>
          <p:cNvPr id="21" name="plate-image-outline">
            <a:extLst xmlns:a="http://schemas.openxmlformats.org/drawingml/2006/main">
              <a:ext uri="{FF2B5EF4-FFF2-40B4-BE49-F238E27FC236}">
                <a16:creationId xmlns:a16="http://schemas.microsoft.com/office/drawing/2014/main" id="{78A286C9-BB53-40AC-90D0-A9577136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59550"/>
            <a:ext cx="9286875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4C"/>
            </a:solidFill>
            <a:prstDash val="solid"/>
          </a:ln>
        </p:spPr>
      </p:sp>
      <p:sp>
        <p:nvSpPr>
          <p:cNvPr id="22" name="plate-sample-label">
            <a:extLst xmlns:a="http://schemas.openxmlformats.org/drawingml/2006/main">
              <a:ext uri="{FF2B5EF4-FFF2-40B4-BE49-F238E27FC236}">
                <a16:creationId xmlns:a16="http://schemas.microsoft.com/office/drawing/2014/main" id="{03240DFB-3E0D-4066-B5B6-DBE74447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9278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rPr>
              <a:t>单张图片识别样例</a:t>
            </a:r>
          </a:p>
        </p:txBody>
      </p:sp>
      <p:sp>
        <p:nvSpPr>
          <p:cNvPr id="23" name="plate-result">
            <a:extLst xmlns:a="http://schemas.openxmlformats.org/drawingml/2006/main">
              <a:ext uri="{FF2B5EF4-FFF2-40B4-BE49-F238E27FC236}">
                <a16:creationId xmlns:a16="http://schemas.microsoft.com/office/drawing/2014/main" id="{87CC8EAD-CA39-4660-A685-06416D59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19726275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650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rPr>
              <a:t>鄂F8888警</a:t>
            </a:r>
          </a:p>
        </p:txBody>
      </p:sp>
      <p:sp>
        <p:nvSpPr>
          <p:cNvPr id="24" name="plate-result-detail">
            <a:extLst xmlns:a="http://schemas.openxmlformats.org/drawingml/2006/main">
              <a:ext uri="{FF2B5EF4-FFF2-40B4-BE49-F238E27FC236}">
                <a16:creationId xmlns:a16="http://schemas.microsoft.com/office/drawing/2014/main" id="{21876209-A4F4-49FF-8BF1-299A3463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057400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检测置信度 0.8544  /  字符识别置信度 1.00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CPU 单张运行 688.9 ms；单样例数据</a:t>
            </a:r>
          </a:p>
        </p:txBody>
      </p:sp>
      <p:sp>
        <p:nvSpPr>
          <p:cNvPr id="25" name="transfer-limit">
            <a:extLst xmlns:a="http://schemas.openxmlformats.org/drawingml/2006/main">
              <a:ext uri="{FF2B5EF4-FFF2-40B4-BE49-F238E27FC236}">
                <a16:creationId xmlns:a16="http://schemas.microsoft.com/office/drawing/2014/main" id="{C4F8AC7E-421E-42CF-B368-48282A36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0"/>
            <a:ext cx="1895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0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rPr>
              <a:t>传输为静态图像包；车牌检测与 OCR 在 PC 完成。</a:t>
            </a:r>
          </a:p>
        </p:txBody>
      </p:sp>
      <p:sp>
        <p:nvSpPr>
          <p:cNvPr id="26" name="metrics-rule">
            <a:extLst xmlns:a="http://schemas.openxmlformats.org/drawingml/2006/main">
              <a:ext uri="{FF2B5EF4-FFF2-40B4-BE49-F238E27FC236}">
                <a16:creationId xmlns:a16="http://schemas.microsoft.com/office/drawing/2014/main" id="{91524238-5F4D-49A0-B1C6-541F8081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707600"/>
            <a:ext cx="1909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etrics-accent">
            <a:extLst xmlns:a="http://schemas.openxmlformats.org/drawingml/2006/main">
              <a:ext uri="{FF2B5EF4-FFF2-40B4-BE49-F238E27FC236}">
                <a16:creationId xmlns:a16="http://schemas.microsoft.com/office/drawing/2014/main" id="{F987958B-1810-45B1-99CB-C9378791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707600"/>
            <a:ext cx="1047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D5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458B707E-CB5F-459C-A7DD-A0302941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552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rPr>
              <a:t>FPGA 时序</a:t>
            </a:r>
          </a:p>
        </p:txBody>
      </p:sp>
      <p:sp>
        <p:nvSpPr>
          <p:cNvPr id="29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1BE5FA6D-1F9C-49BC-8964-F31F8152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60075"/>
            <a:ext cx="5905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27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rPr>
              <a:t>+0.101 ns</a:t>
            </a:r>
          </a:p>
        </p:txBody>
      </p:sp>
      <p:sp>
        <p:nvSpPr>
          <p:cNvPr id="30" name="metric-note-0">
            <a:extLst xmlns:a="http://schemas.openxmlformats.org/drawingml/2006/main">
              <a:ext uri="{FF2B5EF4-FFF2-40B4-BE49-F238E27FC236}">
                <a16:creationId xmlns:a16="http://schemas.microsoft.com/office/drawing/2014/main" id="{5AF1C7C7-874D-4E0F-B928-1BA52BED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316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Setup WNS  /  TNS = 0</a:t>
            </a:r>
          </a:p>
        </p:txBody>
      </p:sp>
      <p:sp>
        <p:nvSpPr>
          <p:cNvPr id="31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918FE87D-CC65-4C3E-9BE8-8AEFD064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9552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rPr>
              <a:t>逻辑资源</a:t>
            </a:r>
          </a:p>
        </p:txBody>
      </p:sp>
      <p:sp>
        <p:nvSpPr>
          <p:cNvPr id="32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B080B23-A118-44DF-83FF-C4024987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460075"/>
            <a:ext cx="5905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27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rPr>
              <a:t>85.97%</a:t>
            </a:r>
          </a:p>
        </p:txBody>
      </p:sp>
      <p:sp>
        <p:nvSpPr>
          <p:cNvPr id="33" name="metric-note-1">
            <a:extLst xmlns:a="http://schemas.openxmlformats.org/drawingml/2006/main">
              <a:ext uri="{FF2B5EF4-FFF2-40B4-BE49-F238E27FC236}">
                <a16:creationId xmlns:a16="http://schemas.microsoft.com/office/drawing/2014/main" id="{4D71FA64-8FE3-4C62-A8B6-F8EEF01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2316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Slice 占用  /  48 RAM  /  4 DSP</a:t>
            </a:r>
          </a:p>
        </p:txBody>
      </p:sp>
      <p:sp>
        <p:nvSpPr>
          <p:cNvPr id="34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D6BA886-0480-46F2-A87F-FD421DC4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2955250"/>
            <a:ext cx="6238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rPr>
              <a:t>PC 协议测试</a:t>
            </a:r>
          </a:p>
        </p:txBody>
      </p:sp>
      <p:sp>
        <p:nvSpPr>
          <p:cNvPr id="35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56124661-7805-4EA0-88EE-4200EDAB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3460075"/>
            <a:ext cx="6238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4275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24D5C0"/>
                </a:solidFill>
                <a:latin typeface="Microsoft YaHei"/>
                <a:ea typeface="Microsoft YaHei"/>
                <a:cs typeface="Microsoft YaHei"/>
              </a:rPr>
              <a:t>9 项通过</a:t>
            </a:r>
          </a:p>
        </p:txBody>
      </p:sp>
      <p:sp>
        <p:nvSpPr>
          <p:cNvPr id="36" name="metric-note-2">
            <a:extLst xmlns:a="http://schemas.openxmlformats.org/drawingml/2006/main">
              <a:ext uri="{FF2B5EF4-FFF2-40B4-BE49-F238E27FC236}">
                <a16:creationId xmlns:a16="http://schemas.microsoft.com/office/drawing/2014/main" id="{874722BE-F00E-4513-958A-9B563B18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4231600"/>
            <a:ext cx="623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图像协议单元测试</a:t>
            </a:r>
          </a:p>
        </p:txBody>
      </p:sp>
      <p:sp>
        <p:nvSpPr>
          <p:cNvPr id="37" name="metrics-divider-1">
            <a:extLst xmlns:a="http://schemas.openxmlformats.org/drawingml/2006/main">
              <a:ext uri="{FF2B5EF4-FFF2-40B4-BE49-F238E27FC236}">
                <a16:creationId xmlns:a16="http://schemas.microsoft.com/office/drawing/2014/main" id="{D3EFDD01-C615-44F2-8DEA-011096D8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002875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etrics-divider-2">
            <a:extLst xmlns:a="http://schemas.openxmlformats.org/drawingml/2006/main">
              <a:ext uri="{FF2B5EF4-FFF2-40B4-BE49-F238E27FC236}">
                <a16:creationId xmlns:a16="http://schemas.microsoft.com/office/drawing/2014/main" id="{29A78B7E-A28D-4822-87F2-5987CAE5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3002875"/>
            <a:ext cx="190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cceptance-note-bg">
            <a:extLst xmlns:a="http://schemas.openxmlformats.org/drawingml/2006/main">
              <a:ext uri="{FF2B5EF4-FFF2-40B4-BE49-F238E27FC236}">
                <a16:creationId xmlns:a16="http://schemas.microsoft.com/office/drawing/2014/main" id="{6DBEF190-78B6-4962-8C51-D0C2350B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031700"/>
            <a:ext cx="19097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E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acceptance-note">
            <a:extLst xmlns:a="http://schemas.openxmlformats.org/drawingml/2006/main">
              <a:ext uri="{FF2B5EF4-FFF2-40B4-BE49-F238E27FC236}">
                <a16:creationId xmlns:a16="http://schemas.microsoft.com/office/drawing/2014/main" id="{4F75D2C5-723B-4A48-91D7-411CCA51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165050"/>
            <a:ext cx="18621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FFB3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B366"/>
                </a:solidFill>
                <a:latin typeface="Microsoft YaHei"/>
                <a:ea typeface="Microsoft YaHei"/>
                <a:cs typeface="Microsoft YaHei"/>
              </a:rPr>
              <a:t>目标板摄像头、HDMI 与 UART 图片回显仍待整链路实测验收。</a:t>
            </a:r>
          </a:p>
        </p:txBody>
      </p:sp>
      <p:sp>
        <p:nvSpPr>
          <p:cNvPr id="4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0C2F9F-115B-44C9-8089-5ED000C3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41375"/>
            <a:ext cx="19097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qr-heading">
            <a:extLst xmlns:a="http://schemas.openxmlformats.org/drawingml/2006/main">
              <a:ext uri="{FF2B5EF4-FFF2-40B4-BE49-F238E27FC236}">
                <a16:creationId xmlns:a16="http://schemas.microsoft.com/office/drawing/2014/main" id="{408F5295-5893-43A1-9150-8DCB1CD5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74750"/>
            <a:ext cx="12954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000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F5F8FA"/>
                </a:solidFill>
                <a:latin typeface="Microsoft YaHei"/>
                <a:ea typeface="Microsoft YaHei"/>
                <a:cs typeface="Microsoft YaHei"/>
              </a:rPr>
              <a:t>项目源码与资料</a:t>
            </a:r>
          </a:p>
        </p:txBody>
      </p:sp>
      <p:sp>
        <p:nvSpPr>
          <p:cNvPr id="43" name="qr-copy">
            <a:extLst xmlns:a="http://schemas.openxmlformats.org/drawingml/2006/main">
              <a:ext uri="{FF2B5EF4-FFF2-40B4-BE49-F238E27FC236}">
                <a16:creationId xmlns:a16="http://schemas.microsoft.com/office/drawing/2014/main" id="{8C845FDD-0327-4CCD-9A34-AAB1A71F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0"/>
            <a:ext cx="14097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扫码打开 GitHub 项目仓库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FPGA 工程  /  上位机  /  模型  /  仿真  /  技术文档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C1D0D7"/>
                </a:solidFill>
                <a:latin typeface="Microsoft YaHei"/>
                <a:ea typeface="Microsoft YaHei"/>
                <a:cs typeface="Microsoft YaHei"/>
              </a:rPr>
              <a:t>机械设计：自制亚克力摄像头支架  /  OpenSCAD 参数化模型</a:t>
            </a:r>
          </a:p>
        </p:txBody>
      </p:sp>
      <p:sp>
        <p:nvSpPr>
          <p:cNvPr id="44" name="qr-access-note">
            <a:extLst xmlns:a="http://schemas.openxmlformats.org/drawingml/2006/main">
              <a:ext uri="{FF2B5EF4-FFF2-40B4-BE49-F238E27FC236}">
                <a16:creationId xmlns:a16="http://schemas.microsoft.com/office/drawing/2014/main" id="{8E5A36EB-8A2F-41FD-9DFB-C38374F9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889325"/>
            <a:ext cx="1381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rPr>
              <a:t>私有仓库：登录有权限的 GitHub 账号后浏览文件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5f9a939be649b6"/>
          <a:stretch xmlns:a="http://schemas.openxmlformats.org/drawingml/2006/main"/>
        </p:blipFill>
        <p:spPr>
          <a:xfrm xmlns:a="http://schemas.openxmlformats.org/drawingml/2006/main">
            <a:off x="16478250" y="26508075"/>
            <a:ext cx="3333750" cy="3333750"/>
          </a:xfrm>
          <a:prstGeom xmlns:a="http://schemas.openxmlformats.org/drawingml/2006/main" prst="rect">
            <a:avLst/>
          </a:prstGeom>
        </p:spPr>
      </p:pic>
      <p:sp>
        <p:nvSpPr>
          <p:cNvPr id="46" name="qr-outline">
            <a:extLst xmlns:a="http://schemas.openxmlformats.org/drawingml/2006/main">
              <a:ext uri="{FF2B5EF4-FFF2-40B4-BE49-F238E27FC236}">
                <a16:creationId xmlns:a16="http://schemas.microsoft.com/office/drawing/2014/main" id="{F3B531E5-64B5-4EC9-BF13-D5563D21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26431875"/>
            <a:ext cx="34861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414C"/>
            </a:solidFill>
            <a:prstDash val="solid"/>
          </a:ln>
        </p:spPr>
      </p:sp>
      <p:sp>
        <p:nvSpPr>
          <p:cNvPr id="47" name="footer-project">
            <a:extLst xmlns:a="http://schemas.openxmlformats.org/drawingml/2006/main">
              <a:ext uri="{FF2B5EF4-FFF2-40B4-BE49-F238E27FC236}">
                <a16:creationId xmlns:a16="http://schemas.microsoft.com/office/drawing/2014/main" id="{171F7207-9324-452D-A0E5-5E81BAF1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0"/>
            <a:ext cx="1371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9A0AA"/>
                </a:solidFill>
                <a:latin typeface="Microsoft YaHei"/>
                <a:ea typeface="Microsoft YaHei"/>
                <a:cs typeface="Microsoft YaHei"/>
              </a:rPr>
              <a:t>HX1P35B FPGA 视觉处理系统</a:t>
            </a:r>
          </a:p>
        </p:txBody>
      </p:sp>
    </p:spTree>
    <p:extLst>
      <p:ext uri="{BB962C8B-B14F-4D97-AF65-F5344CB8AC3E}">
        <p14:creationId xmlns:p14="http://schemas.microsoft.com/office/powerpoint/2010/main" val="19886400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2026-10-26T16:04:12.8320000Z</dcterms:created>
  <dcterms:modified xsi:type="dcterms:W3CDTF">2026-10-26T16:04:12.8320000Z</dcterms:modified>
</coreProperties>
</file>