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a0f6f1fd104c5b" /><Relationship Type="http://schemas.openxmlformats.org/officeDocument/2006/relationships/extended-properties" Target="/docProps/app.xml" Id="R15700b85a5684bd6" /><Relationship Type="http://schemas.openxmlformats.org/officeDocument/2006/relationships/officeDocument" Target="/ppt/presentation.xml" Id="R2a7a5effe99749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44c285378d4b47"/>
  </p:sldMasterIdLst>
  <p:notesMasterIdLst>
    <p:notesMasterId xmlns:r="http://schemas.openxmlformats.org/officeDocument/2006/relationships" r:id="Ree24bb7a8d2e468c"/>
  </p:notesMasterIdLst>
  <p:sldIdLst>
    <p:sldId xmlns:r="http://schemas.openxmlformats.org/officeDocument/2006/relationships" id="256" r:id="Rf222bbea57a342c9"/>
  </p:sldIdLst>
  <p:sldSz cx="21383625" cy="302799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cadb6914b04f41" /><Relationship Type="http://schemas.openxmlformats.org/officeDocument/2006/relationships/slideMaster" Target="/ppt/slideMasters/slideMaster1.xml" Id="R5244c285378d4b47" /><Relationship Type="http://schemas.openxmlformats.org/officeDocument/2006/relationships/notesMaster" Target="/ppt/notesMasters/notesMaster1.xml" Id="Ree24bb7a8d2e468c" /><Relationship Type="http://schemas.openxmlformats.org/officeDocument/2006/relationships/presProps" Target="/ppt/presProps.xml" Id="Rfda8fae8d1454fa8" /><Relationship Type="http://schemas.openxmlformats.org/officeDocument/2006/relationships/tableStyles" Target="/ppt/tableStyles.xml" Id="Ra1a9d3d352304603" /><Relationship Type="http://schemas.openxmlformats.org/officeDocument/2006/relationships/slide" Target="/ppt/slides/slide1.xml" Id="Rf222bbea57a342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e5fcc2c1c74d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10c00918c34f98" /><Relationship Type="http://schemas.openxmlformats.org/officeDocument/2006/relationships/notesMaster" Target="/ppt/notesMasters/notesMaster1.xml" Id="R6068c8a916db4e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项目仓库（私有）：https://github.com/xiaozehao3/hx1p35a-sc520cs-vision</a:t>
            </a:r>
          </a:p>
          <a:p xmlns:a="http://schemas.openxmlformats.org/drawingml/2006/main">
            <a:r>
              <a:t>二维码直接编码上述仓库首页地址。只有仓库所有者和已获授权的 GitHub 账号能查看仓库内容。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素材与事实来源：</a:t>
            </a:r>
          </a:p>
          <a:p xmlns:a="http://schemas.openxmlformats.org/drawingml/2006/main">
            <a:r>
              <a:t>1. 问界 M9 车型图：AITO 官方网站首页，https://aito.auto/ ，图片用于车型场景示意，不是本项目采集或识别结果。</a:t>
            </a:r>
          </a:p>
          <a:p xmlns:a="http://schemas.openxmlformats.org/drawingml/2006/main">
            <a:r>
              <a:t>2. 车牌识别样例结果：evidence/plate_result_police.json；截图局部来自 evidence/plate_police/police.jpg。</a:t>
            </a:r>
          </a:p>
          <a:p xmlns:a="http://schemas.openxmlformats.org/drawingml/2006/main">
            <a:r>
              <a:t>3. FPGA 时序及资源：td_project_submission_pc_image_20261025/report_vision_ui_qor.txt 与 final_timing.rpt。</a:t>
            </a:r>
          </a:p>
          <a:p xmlns:a="http://schemas.openxmlformats.org/drawingml/2006/main">
            <a:r>
              <a:t>4. PC 图像协议测试：PC 上位机 tests 目录，9 项单元测试通过。</a:t>
            </a:r>
          </a:p>
          <a:p xmlns:a="http://schemas.openxmlformats.org/drawingml/2006/main">
            <a:r>
              <a:t>5. FPGA 摄像头、HDMI 和 UART 图片回显目前仍待目标板整链路实测验收。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ff05f83a924c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c90a22dbc84ea9" /><Relationship Type="http://schemas.openxmlformats.org/officeDocument/2006/relationships/slideLayout" Target="/ppt/slideLayouts/slideLayout1.xml" Id="R1e0ad75572fb42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0ad75572fb42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ac9077017459a" /><Relationship Type="http://schemas.openxmlformats.org/officeDocument/2006/relationships/image" Target="/ppt/media/image.jpeg" Id="R76eebb6a844c4ca0" /><Relationship Type="http://schemas.openxmlformats.org/officeDocument/2006/relationships/image" Target="/ppt/media/image2.jpeg" Id="Rd51d6e4327324e92" /><Relationship Type="http://schemas.openxmlformats.org/officeDocument/2006/relationships/image" Target="/ppt/media/image.png" Id="R14777019f56a44ff" /><Relationship Type="http://schemas.openxmlformats.org/officeDocument/2006/relationships/notesSlide" Target="/ppt/notesSlides/notesSlide1.xml" Id="R147716345c584c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top-accent">
            <a:extLst xmlns:a="http://schemas.openxmlformats.org/drawingml/2006/main">
              <a:ext uri="{FF2B5EF4-FFF2-40B4-BE49-F238E27FC236}">
                <a16:creationId xmlns:a16="http://schemas.microsoft.com/office/drawing/2014/main" id="{7FEC15C1-4891-4103-853E-7A34FA42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"/>
            <a:ext cx="952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D5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3B6AB3E8-4168-4B2C-87A5-8177AB16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00125"/>
            <a:ext cx="1381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24D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4D5C0"/>
                </a:solidFill>
                <a:latin typeface="Microsoft YaHei"/>
                <a:ea typeface="Microsoft YaHei"/>
                <a:cs typeface="Microsoft YaHei"/>
              </a:rPr>
              <a:t>HX1P35B  /  PH1P35MDG324  /  视觉系统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E3F6A48-757C-4973-B267-9DE23A1E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62100"/>
            <a:ext cx="1438275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6825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825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rPr>
              <a:t>FPGA 视觉处理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6825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825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rPr>
              <a:t>与车牌识别系统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1857B00-F693-4D79-B6BD-B4FAAEAC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14239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625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rPr>
              <a:t>摄像头实时处理  +  PC 单图识别与 HDMI 回显</a:t>
            </a:r>
          </a:p>
        </p:txBody>
      </p:sp>
      <p:sp>
        <p:nvSpPr>
          <p:cNvPr id="5" name="number-divider">
            <a:extLst xmlns:a="http://schemas.openxmlformats.org/drawingml/2006/main">
              <a:ext uri="{FF2B5EF4-FFF2-40B4-BE49-F238E27FC236}">
                <a16:creationId xmlns:a16="http://schemas.microsoft.com/office/drawing/2014/main" id="{531E169B-6E65-437D-9900-59B774A5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3925" y="952500"/>
            <a:ext cx="285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mode-number">
            <a:extLst xmlns:a="http://schemas.openxmlformats.org/drawingml/2006/main">
              <a:ext uri="{FF2B5EF4-FFF2-40B4-BE49-F238E27FC236}">
                <a16:creationId xmlns:a16="http://schemas.microsoft.com/office/drawing/2014/main" id="{61CE6615-8394-4F15-B207-3905F554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0" y="428625"/>
            <a:ext cx="338137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0" b="1">
                <a:solidFill>
                  <a:srgbClr val="24D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0" b="1">
                <a:solidFill>
                  <a:srgbClr val="24D5C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" name="mode-number-label">
            <a:extLst xmlns:a="http://schemas.openxmlformats.org/drawingml/2006/main">
              <a:ext uri="{FF2B5EF4-FFF2-40B4-BE49-F238E27FC236}">
                <a16:creationId xmlns:a16="http://schemas.microsoft.com/office/drawing/2014/main" id="{D7830E72-FA48-431B-90A1-572CB047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4425" y="3171825"/>
            <a:ext cx="3714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24D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24D5C0"/>
                </a:solidFill>
                <a:latin typeface="Microsoft YaHei"/>
                <a:ea typeface="Microsoft YaHei"/>
                <a:cs typeface="Microsoft YaHei"/>
              </a:rPr>
              <a:t>种实时图像模式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eebb6a844c4ca0"/>
          <a:srcRect xmlns:a="http://schemas.openxmlformats.org/drawingml/2006/main" l="24" t="0" r="2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3000" y="4381500"/>
            <a:ext cx="19097625" cy="8334375"/>
          </a:xfrm>
          <a:prstGeom xmlns:a="http://schemas.openxmlformats.org/drawingml/2006/main" prst="rect">
            <a:avLst/>
          </a:prstGeom>
        </p:spPr>
      </p:pic>
      <p:sp>
        <p:nvSpPr>
          <p:cNvPr id="9" name="hero-caption">
            <a:extLst xmlns:a="http://schemas.openxmlformats.org/drawingml/2006/main">
              <a:ext uri="{FF2B5EF4-FFF2-40B4-BE49-F238E27FC236}">
                <a16:creationId xmlns:a16="http://schemas.microsoft.com/office/drawing/2014/main" id="{DAF44BC8-A5D6-4E8D-99BE-1F2BC90A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2773025"/>
            <a:ext cx="1809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0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rPr>
              <a:t>问界 M9 车型示意  /  图片来源：AITO 官方网站</a:t>
            </a:r>
          </a:p>
        </p:txBody>
      </p:sp>
      <p:sp>
        <p:nvSpPr>
          <p:cNvPr id="10" name="fpga-title">
            <a:extLst xmlns:a="http://schemas.openxmlformats.org/drawingml/2006/main">
              <a:ext uri="{FF2B5EF4-FFF2-40B4-BE49-F238E27FC236}">
                <a16:creationId xmlns:a16="http://schemas.microsoft.com/office/drawing/2014/main" id="{F5D47975-8E71-4071-9EEB-C3CEC9AB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3287375"/>
            <a:ext cx="19097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225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rPr>
              <a:t>01  实时摄像头处理  /  FPGA</a:t>
            </a:r>
          </a:p>
        </p:txBody>
      </p:sp>
      <p:sp>
        <p:nvSpPr>
          <p:cNvPr id="11" name="fpga-rule">
            <a:extLst xmlns:a="http://schemas.openxmlformats.org/drawingml/2006/main">
              <a:ext uri="{FF2B5EF4-FFF2-40B4-BE49-F238E27FC236}">
                <a16:creationId xmlns:a16="http://schemas.microsoft.com/office/drawing/2014/main" id="{D0B46F8D-4A54-4B8E-BAED-FC760963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030325"/>
            <a:ext cx="19097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pga-accent">
            <a:extLst xmlns:a="http://schemas.openxmlformats.org/drawingml/2006/main">
              <a:ext uri="{FF2B5EF4-FFF2-40B4-BE49-F238E27FC236}">
                <a16:creationId xmlns:a16="http://schemas.microsoft.com/office/drawing/2014/main" id="{2297B6BE-52CD-4B73-B2B5-6D1543CB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030325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D5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pga-flow">
            <a:extLst xmlns:a="http://schemas.openxmlformats.org/drawingml/2006/main">
              <a:ext uri="{FF2B5EF4-FFF2-40B4-BE49-F238E27FC236}">
                <a16:creationId xmlns:a16="http://schemas.microsoft.com/office/drawing/2014/main" id="{C05B127B-4D3C-40E8-8DF1-5F52588F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306550"/>
            <a:ext cx="19097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475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rPr>
              <a:t>MIPI CSI 摄像头  →  解包 / 去马赛克  →  像素处理  →  DDR 缓存  →  HDMI</a:t>
            </a:r>
          </a:p>
        </p:txBody>
      </p:sp>
      <p:sp>
        <p:nvSpPr>
          <p:cNvPr id="14" name="fpga-modes">
            <a:extLst xmlns:a="http://schemas.openxmlformats.org/drawingml/2006/main">
              <a:ext uri="{FF2B5EF4-FFF2-40B4-BE49-F238E27FC236}">
                <a16:creationId xmlns:a16="http://schemas.microsoft.com/office/drawing/2014/main" id="{8BC4813F-1B20-4FE3-AF42-FEB62062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049500"/>
            <a:ext cx="19097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000" b="1">
                <a:solidFill>
                  <a:srgbClr val="24D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4D5C0"/>
                </a:solidFill>
                <a:latin typeface="Microsoft YaHei"/>
                <a:ea typeface="Microsoft YaHei"/>
                <a:cs typeface="Microsoft YaHei"/>
              </a:rPr>
              <a:t>彩色    二值化    边缘检测    灰度</a:t>
            </a:r>
          </a:p>
        </p:txBody>
      </p:sp>
      <p:sp>
        <p:nvSpPr>
          <p:cNvPr id="15" name="fpga-detail">
            <a:extLst xmlns:a="http://schemas.openxmlformats.org/drawingml/2006/main">
              <a:ext uri="{FF2B5EF4-FFF2-40B4-BE49-F238E27FC236}">
                <a16:creationId xmlns:a16="http://schemas.microsoft.com/office/drawing/2014/main" id="{1B43AA65-9088-427C-B2CC-6B461F14B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63875"/>
            <a:ext cx="1895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rPr>
              <a:t>SW1 风格化  /  SW2 区域填充  /  SW3 伪彩  /  SW4 填充色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rPr>
              <a:t>颜色目标框与坐标  /  帧差运动区域  /  数字亮度校正  /  FPS 与帧计数 OSD</a:t>
            </a:r>
          </a:p>
        </p:txBody>
      </p:sp>
      <p:sp>
        <p:nvSpPr>
          <p:cNvPr id="16" name="pc-title">
            <a:extLst xmlns:a="http://schemas.openxmlformats.org/drawingml/2006/main">
              <a:ext uri="{FF2B5EF4-FFF2-40B4-BE49-F238E27FC236}">
                <a16:creationId xmlns:a16="http://schemas.microsoft.com/office/drawing/2014/main" id="{AEEE25BE-1429-48BB-BE9F-300275BB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278350"/>
            <a:ext cx="19097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225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rPr>
              <a:t>02  导入车牌图像识别  /  PC + FPGA</a:t>
            </a:r>
          </a:p>
        </p:txBody>
      </p:sp>
      <p:sp>
        <p:nvSpPr>
          <p:cNvPr id="17" name="pc-rule">
            <a:extLst xmlns:a="http://schemas.openxmlformats.org/drawingml/2006/main">
              <a:ext uri="{FF2B5EF4-FFF2-40B4-BE49-F238E27FC236}">
                <a16:creationId xmlns:a16="http://schemas.microsoft.com/office/drawing/2014/main" id="{C1D32E43-DE76-4653-A017-F135987D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21300"/>
            <a:ext cx="19097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c-accent">
            <a:extLst xmlns:a="http://schemas.openxmlformats.org/drawingml/2006/main">
              <a:ext uri="{FF2B5EF4-FFF2-40B4-BE49-F238E27FC236}">
                <a16:creationId xmlns:a16="http://schemas.microsoft.com/office/drawing/2014/main" id="{DF8E14B5-AAE8-46C0-8591-28A6F6FC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213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D5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c-flow">
            <a:extLst xmlns:a="http://schemas.openxmlformats.org/drawingml/2006/main">
              <a:ext uri="{FF2B5EF4-FFF2-40B4-BE49-F238E27FC236}">
                <a16:creationId xmlns:a16="http://schemas.microsoft.com/office/drawing/2014/main" id="{8A6627BD-28B0-4DBF-9135-5F2C6718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268950"/>
            <a:ext cx="19097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rPr>
              <a:t>PC 导入图片  →  YOLOv5 定位  →  CRNN 识别  →  标注结果  →  UART 115200  →  FPGA HDMI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1d6e4327324e92"/>
          <a:stretch xmlns:a="http://schemas.openxmlformats.org/drawingml/2006/main"/>
        </p:blipFill>
        <p:spPr>
          <a:xfrm xmlns:a="http://schemas.openxmlformats.org/drawingml/2006/main">
            <a:off x="3066040" y="19259550"/>
            <a:ext cx="5440795" cy="2476500"/>
          </a:xfrm>
          <a:prstGeom xmlns:a="http://schemas.openxmlformats.org/drawingml/2006/main" prst="rect">
            <a:avLst/>
          </a:prstGeom>
        </p:spPr>
      </p:pic>
      <p:sp>
        <p:nvSpPr>
          <p:cNvPr id="21" name="plate-image-outline">
            <a:extLst xmlns:a="http://schemas.openxmlformats.org/drawingml/2006/main">
              <a:ext uri="{FF2B5EF4-FFF2-40B4-BE49-F238E27FC236}">
                <a16:creationId xmlns:a16="http://schemas.microsoft.com/office/drawing/2014/main" id="{9586C6D0-1825-4420-8160-31F7FD3D6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59550"/>
            <a:ext cx="9286875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14C"/>
            </a:solidFill>
            <a:prstDash val="solid"/>
          </a:ln>
        </p:spPr>
      </p:sp>
      <p:sp>
        <p:nvSpPr>
          <p:cNvPr id="22" name="plate-sample-label">
            <a:extLst xmlns:a="http://schemas.openxmlformats.org/drawingml/2006/main">
              <a:ext uri="{FF2B5EF4-FFF2-40B4-BE49-F238E27FC236}">
                <a16:creationId xmlns:a16="http://schemas.microsoft.com/office/drawing/2014/main" id="{A5CFAB61-C0E3-4DFA-8C85-7AEEFC0A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927860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rPr>
              <a:t>单张图片识别样例</a:t>
            </a:r>
          </a:p>
        </p:txBody>
      </p:sp>
      <p:sp>
        <p:nvSpPr>
          <p:cNvPr id="23" name="plate-result">
            <a:extLst xmlns:a="http://schemas.openxmlformats.org/drawingml/2006/main">
              <a:ext uri="{FF2B5EF4-FFF2-40B4-BE49-F238E27FC236}">
                <a16:creationId xmlns:a16="http://schemas.microsoft.com/office/drawing/2014/main" id="{0A4C7014-D24D-4744-B482-3A8C5BB0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9726275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4650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rPr>
              <a:t>鄂F8888警</a:t>
            </a:r>
          </a:p>
        </p:txBody>
      </p:sp>
      <p:sp>
        <p:nvSpPr>
          <p:cNvPr id="24" name="plate-result-detail">
            <a:extLst xmlns:a="http://schemas.openxmlformats.org/drawingml/2006/main">
              <a:ext uri="{FF2B5EF4-FFF2-40B4-BE49-F238E27FC236}">
                <a16:creationId xmlns:a16="http://schemas.microsoft.com/office/drawing/2014/main" id="{8C801E24-B18F-471E-A101-506C5C7E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057400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rPr>
              <a:t>检测置信度 0.8544  /  字符识别置信度 1.00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rPr>
              <a:t>CPU 单张运行 688.9 ms；单样例数据</a:t>
            </a:r>
          </a:p>
        </p:txBody>
      </p:sp>
      <p:sp>
        <p:nvSpPr>
          <p:cNvPr id="25" name="transfer-limit">
            <a:extLst xmlns:a="http://schemas.openxmlformats.org/drawingml/2006/main">
              <a:ext uri="{FF2B5EF4-FFF2-40B4-BE49-F238E27FC236}">
                <a16:creationId xmlns:a16="http://schemas.microsoft.com/office/drawing/2014/main" id="{27065BC5-943E-43DB-93B6-92429CEF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907500"/>
            <a:ext cx="1895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0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rPr>
              <a:t>传输为静态图像包；车牌检测与 OCR 在 PC 完成。</a:t>
            </a:r>
          </a:p>
        </p:txBody>
      </p:sp>
      <p:sp>
        <p:nvSpPr>
          <p:cNvPr id="26" name="metrics-rule">
            <a:extLst xmlns:a="http://schemas.openxmlformats.org/drawingml/2006/main">
              <a:ext uri="{FF2B5EF4-FFF2-40B4-BE49-F238E27FC236}">
                <a16:creationId xmlns:a16="http://schemas.microsoft.com/office/drawing/2014/main" id="{B93495E2-A421-4F23-8470-87F4E8DA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707600"/>
            <a:ext cx="19097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metrics-accent">
            <a:extLst xmlns:a="http://schemas.openxmlformats.org/drawingml/2006/main">
              <a:ext uri="{FF2B5EF4-FFF2-40B4-BE49-F238E27FC236}">
                <a16:creationId xmlns:a16="http://schemas.microsoft.com/office/drawing/2014/main" id="{14C63EEE-F1E9-4895-90B3-9E964DB7E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7076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D5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C8148D86-7041-48BD-97EE-88746600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9552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rPr>
              <a:t>FPGA 时序</a:t>
            </a:r>
          </a:p>
        </p:txBody>
      </p:sp>
      <p:sp>
        <p:nvSpPr>
          <p:cNvPr id="29" name="metric-value-0">
            <a:extLst xmlns:a="http://schemas.openxmlformats.org/drawingml/2006/main">
              <a:ext uri="{FF2B5EF4-FFF2-40B4-BE49-F238E27FC236}">
                <a16:creationId xmlns:a16="http://schemas.microsoft.com/office/drawing/2014/main" id="{7BD3777C-246B-4CB1-BDD1-16073D86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460075"/>
            <a:ext cx="5905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4275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75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rPr>
              <a:t>+0.101 ns</a:t>
            </a:r>
          </a:p>
        </p:txBody>
      </p:sp>
      <p:sp>
        <p:nvSpPr>
          <p:cNvPr id="30" name="metric-note-0">
            <a:extLst xmlns:a="http://schemas.openxmlformats.org/drawingml/2006/main">
              <a:ext uri="{FF2B5EF4-FFF2-40B4-BE49-F238E27FC236}">
                <a16:creationId xmlns:a16="http://schemas.microsoft.com/office/drawing/2014/main" id="{9BC4EAD8-8C5C-483B-ABB7-90BF1444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2316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rPr>
              <a:t>Setup WNS  /  TNS = 0</a:t>
            </a:r>
          </a:p>
        </p:txBody>
      </p:sp>
      <p:sp>
        <p:nvSpPr>
          <p:cNvPr id="31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9DA5562C-9FCF-4B9A-A75D-6231138B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29552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rPr>
              <a:t>逻辑资源</a:t>
            </a:r>
          </a:p>
        </p:txBody>
      </p:sp>
      <p:sp>
        <p:nvSpPr>
          <p:cNvPr id="32" name="metric-value-1">
            <a:extLst xmlns:a="http://schemas.openxmlformats.org/drawingml/2006/main">
              <a:ext uri="{FF2B5EF4-FFF2-40B4-BE49-F238E27FC236}">
                <a16:creationId xmlns:a16="http://schemas.microsoft.com/office/drawing/2014/main" id="{C8C1B44E-1C2B-4D9A-99D8-B7BB641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3460075"/>
            <a:ext cx="5905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4275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75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rPr>
              <a:t>85.97%</a:t>
            </a:r>
          </a:p>
        </p:txBody>
      </p:sp>
      <p:sp>
        <p:nvSpPr>
          <p:cNvPr id="33" name="metric-note-1">
            <a:extLst xmlns:a="http://schemas.openxmlformats.org/drawingml/2006/main">
              <a:ext uri="{FF2B5EF4-FFF2-40B4-BE49-F238E27FC236}">
                <a16:creationId xmlns:a16="http://schemas.microsoft.com/office/drawing/2014/main" id="{EC678102-AA06-4B49-A571-7448178D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42316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rPr>
              <a:t>Slice 占用  /  48 RAM  /  4 DSP</a:t>
            </a:r>
          </a:p>
        </p:txBody>
      </p:sp>
      <p:sp>
        <p:nvSpPr>
          <p:cNvPr id="34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3B8C7B8D-9E83-4442-8AB3-DFE88AD0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29552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rPr>
              <a:t>PC 协议测试</a:t>
            </a:r>
          </a:p>
        </p:txBody>
      </p:sp>
      <p:sp>
        <p:nvSpPr>
          <p:cNvPr id="35" name="metric-value-2">
            <a:extLst xmlns:a="http://schemas.openxmlformats.org/drawingml/2006/main">
              <a:ext uri="{FF2B5EF4-FFF2-40B4-BE49-F238E27FC236}">
                <a16:creationId xmlns:a16="http://schemas.microsoft.com/office/drawing/2014/main" id="{4C27B7FA-D155-46B1-ADD3-B900A4F7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3460075"/>
            <a:ext cx="62388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4275" b="1">
                <a:solidFill>
                  <a:srgbClr val="24D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75" b="1">
                <a:solidFill>
                  <a:srgbClr val="24D5C0"/>
                </a:solidFill>
                <a:latin typeface="Microsoft YaHei"/>
                <a:ea typeface="Microsoft YaHei"/>
                <a:cs typeface="Microsoft YaHei"/>
              </a:rPr>
              <a:t>9 项通过</a:t>
            </a:r>
          </a:p>
        </p:txBody>
      </p:sp>
      <p:sp>
        <p:nvSpPr>
          <p:cNvPr id="36" name="metric-note-2">
            <a:extLst xmlns:a="http://schemas.openxmlformats.org/drawingml/2006/main">
              <a:ext uri="{FF2B5EF4-FFF2-40B4-BE49-F238E27FC236}">
                <a16:creationId xmlns:a16="http://schemas.microsoft.com/office/drawing/2014/main" id="{79093574-BD59-4B25-9ED8-1AE2FAB5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4231600"/>
            <a:ext cx="623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rPr>
              <a:t>图像协议单元测试</a:t>
            </a:r>
          </a:p>
        </p:txBody>
      </p:sp>
      <p:sp>
        <p:nvSpPr>
          <p:cNvPr id="37" name="metrics-divider-1">
            <a:extLst xmlns:a="http://schemas.openxmlformats.org/drawingml/2006/main">
              <a:ext uri="{FF2B5EF4-FFF2-40B4-BE49-F238E27FC236}">
                <a16:creationId xmlns:a16="http://schemas.microsoft.com/office/drawing/2014/main" id="{1F98232E-C3AE-4A6C-8CB5-F03A2950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002875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metrics-divider-2">
            <a:extLst xmlns:a="http://schemas.openxmlformats.org/drawingml/2006/main">
              <a:ext uri="{FF2B5EF4-FFF2-40B4-BE49-F238E27FC236}">
                <a16:creationId xmlns:a16="http://schemas.microsoft.com/office/drawing/2014/main" id="{6A461472-5586-4D99-A6C1-146FE0E18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8375" y="23002875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acceptance-note-bg">
            <a:extLst xmlns:a="http://schemas.openxmlformats.org/drawingml/2006/main">
              <a:ext uri="{FF2B5EF4-FFF2-40B4-BE49-F238E27FC236}">
                <a16:creationId xmlns:a16="http://schemas.microsoft.com/office/drawing/2014/main" id="{8B9814C7-1241-4583-B358-D70B417F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031700"/>
            <a:ext cx="19097625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E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acceptance-note">
            <a:extLst xmlns:a="http://schemas.openxmlformats.org/drawingml/2006/main">
              <a:ext uri="{FF2B5EF4-FFF2-40B4-BE49-F238E27FC236}">
                <a16:creationId xmlns:a16="http://schemas.microsoft.com/office/drawing/2014/main" id="{C82D136A-5DEB-4FC0-A358-49FCA67E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5165050"/>
            <a:ext cx="18621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FFB36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B366"/>
                </a:solidFill>
                <a:latin typeface="Microsoft YaHei"/>
                <a:ea typeface="Microsoft YaHei"/>
                <a:cs typeface="Microsoft YaHei"/>
              </a:rPr>
              <a:t>目标板摄像头、HDMI 与 UART 图片回显仍待整链路实测验收。</a:t>
            </a:r>
          </a:p>
        </p:txBody>
      </p:sp>
      <p:sp>
        <p:nvSpPr>
          <p:cNvPr id="4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864B356-E056-4FA2-B2C2-08D5511B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241375"/>
            <a:ext cx="19097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qr-heading">
            <a:extLst xmlns:a="http://schemas.openxmlformats.org/drawingml/2006/main">
              <a:ext uri="{FF2B5EF4-FFF2-40B4-BE49-F238E27FC236}">
                <a16:creationId xmlns:a16="http://schemas.microsoft.com/office/drawing/2014/main" id="{613CA8FB-CC7F-4FC5-ACCA-9F3335C2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574750"/>
            <a:ext cx="12954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000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5F8FA"/>
                </a:solidFill>
                <a:latin typeface="Microsoft YaHei"/>
                <a:ea typeface="Microsoft YaHei"/>
                <a:cs typeface="Microsoft YaHei"/>
              </a:rPr>
              <a:t>项目源码与资料</a:t>
            </a:r>
          </a:p>
        </p:txBody>
      </p:sp>
      <p:sp>
        <p:nvSpPr>
          <p:cNvPr id="43" name="qr-copy">
            <a:extLst xmlns:a="http://schemas.openxmlformats.org/drawingml/2006/main">
              <a:ext uri="{FF2B5EF4-FFF2-40B4-BE49-F238E27FC236}">
                <a16:creationId xmlns:a16="http://schemas.microsoft.com/office/drawing/2014/main" id="{E64483E0-1616-4AAA-BA3D-8BF3C444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0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rPr>
              <a:t>扫码打开 GitHub 项目仓库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C1D0D7"/>
                </a:solidFill>
                <a:latin typeface="Microsoft YaHei"/>
                <a:ea typeface="Microsoft YaHei"/>
                <a:cs typeface="Microsoft YaHei"/>
              </a:rPr>
              <a:t>FPGA 工程  /  上位机  /  模型  /  仿真  /  技术文档</a:t>
            </a:r>
          </a:p>
        </p:txBody>
      </p:sp>
      <p:sp>
        <p:nvSpPr>
          <p:cNvPr id="44" name="qr-access-note">
            <a:extLst xmlns:a="http://schemas.openxmlformats.org/drawingml/2006/main">
              <a:ext uri="{FF2B5EF4-FFF2-40B4-BE49-F238E27FC236}">
                <a16:creationId xmlns:a16="http://schemas.microsoft.com/office/drawing/2014/main" id="{AA28371F-526A-4480-B390-17DB82C2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479750"/>
            <a:ext cx="1381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0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rPr>
              <a:t>私有仓库：登录有权限的 GitHub 账号后浏览文件</a:t>
            </a:r>
          </a:p>
        </p:txBody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777019f56a44ff"/>
          <a:stretch xmlns:a="http://schemas.openxmlformats.org/drawingml/2006/main"/>
        </p:blipFill>
        <p:spPr>
          <a:xfrm xmlns:a="http://schemas.openxmlformats.org/drawingml/2006/main">
            <a:off x="16478250" y="26508075"/>
            <a:ext cx="3333750" cy="3333750"/>
          </a:xfrm>
          <a:prstGeom xmlns:a="http://schemas.openxmlformats.org/drawingml/2006/main" prst="rect">
            <a:avLst/>
          </a:prstGeom>
        </p:spPr>
      </p:pic>
      <p:sp>
        <p:nvSpPr>
          <p:cNvPr id="46" name="qr-outline">
            <a:extLst xmlns:a="http://schemas.openxmlformats.org/drawingml/2006/main">
              <a:ext uri="{FF2B5EF4-FFF2-40B4-BE49-F238E27FC236}">
                <a16:creationId xmlns:a16="http://schemas.microsoft.com/office/drawing/2014/main" id="{96D0B8FC-3B12-4B77-95AD-F5D6A35D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2050" y="26431875"/>
            <a:ext cx="3486150" cy="348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9414C"/>
            </a:solidFill>
            <a:prstDash val="solid"/>
          </a:ln>
        </p:spPr>
      </p:sp>
      <p:sp>
        <p:nvSpPr>
          <p:cNvPr id="47" name="footer-project">
            <a:extLst xmlns:a="http://schemas.openxmlformats.org/drawingml/2006/main">
              <a:ext uri="{FF2B5EF4-FFF2-40B4-BE49-F238E27FC236}">
                <a16:creationId xmlns:a16="http://schemas.microsoft.com/office/drawing/2014/main" id="{22B496E5-3A88-4D45-82CC-B09814A2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337000"/>
            <a:ext cx="1371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89A0AA"/>
                </a:solidFill>
                <a:latin typeface="Microsoft YaHei"/>
                <a:ea typeface="Microsoft YaHei"/>
                <a:cs typeface="Microsoft YaHei"/>
              </a:rPr>
              <a:t>HX1P35B FPGA 视觉处理系统</a:t>
            </a:r>
          </a:p>
        </p:txBody>
      </p:sp>
    </p:spTree>
    <p:extLst>
      <p:ext uri="{BB962C8B-B14F-4D97-AF65-F5344CB8AC3E}">
        <p14:creationId xmlns:p14="http://schemas.microsoft.com/office/powerpoint/2010/main" val="17529940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2026-10-26T10:16:18.3070000Z</dcterms:created>
  <dcterms:modified xsi:type="dcterms:W3CDTF">2026-10-26T10:16:18.3070000Z</dcterms:modified>
</coreProperties>
</file>